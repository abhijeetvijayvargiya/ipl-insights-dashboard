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3"/>
    <p:sldId id="266" r:id="rId14"/>
    <p:sldId id="268" r:id="rId15"/>
    <p:sldId id="269" r:id="rId16"/>
    <p:sldId id="270" r:id="rId17"/>
    <p:sldId id="272" r:id="rId1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2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6514" y="1143000"/>
            <a:ext cx="54849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jpe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jpe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" y="2286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74827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772400" y="-914400"/>
            <a:ext cx="5486400" cy="5486400"/>
          </a:xfrm>
          <a:prstGeom prst="ellipse">
            <a:avLst/>
          </a:prstGeom>
          <a:solidFill>
            <a:srgbClr val="0064B4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01200" y="3200400"/>
            <a:ext cx="3200400" cy="3200400"/>
          </a:xfrm>
          <a:prstGeom prst="ellipse">
            <a:avLst/>
          </a:prstGeom>
          <a:solidFill>
            <a:srgbClr val="FFBE1E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4389120" cy="384048"/>
          </a:xfrm>
          <a:prstGeom prst="round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A193C"/>
                </a:solidFill>
                <a:latin typeface="Calibri" panose="020F0502020204030204"/>
              </a:defRPr>
            </a:pPr>
            <a:r>
              <a:t>  INDIAN PREMIER LEAGUE  DATA ANALYTICS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00200"/>
            <a:ext cx="82296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8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IPL Analytics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33472"/>
            <a:ext cx="5029200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68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94760"/>
            <a:ext cx="7315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 i="1">
                <a:solidFill>
                  <a:srgbClr val="00C8E6"/>
                </a:solidFill>
                <a:latin typeface="Calibri" panose="020F0502020204030204"/>
              </a:defRPr>
            </a:pPr>
            <a:r>
              <a:t>Comprehensive Cricket Intelligence &amp; Visualization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34840"/>
            <a:ext cx="1417320" cy="320040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E6F5"/>
                </a:solidFill>
                <a:latin typeface="Calibri" panose="020F0502020204030204"/>
              </a:defRPr>
            </a:pPr>
            <a:r>
              <a:t> SQL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21865" y="4434840"/>
            <a:ext cx="1417320" cy="320040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DCE6F5"/>
                </a:solidFill>
                <a:latin typeface="Calibri" panose="020F0502020204030204"/>
              </a:defRPr>
            </a:pPr>
            <a:r>
              <a:t> Power BI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290945"/>
            <a:ext cx="11247120" cy="28321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t>Data Analytics  •  Business Intelligence  •  Sports Analytics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12188952" cy="4572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reenshot 2026-05-17 2331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8430" y="1600200"/>
            <a:ext cx="4264660" cy="33515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Executive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t>A comprehensive multi-page Power BI dashboard built on 756 IPL matches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2026-05-17_1415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943600" cy="33832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74320" y="1005840"/>
            <a:ext cx="5943600" cy="3383280"/>
          </a:xfrm>
          <a:prstGeom prst="rect">
            <a:avLst/>
          </a:prstGeom>
          <a:noFill/>
          <a:ln w="317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83680" y="1005840"/>
            <a:ext cx="2560320" cy="749808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FFBE1E"/>
                </a:solidFill>
                <a:latin typeface="Calibri" panose="020F0502020204030204"/>
              </a:defRPr>
            </a:pPr>
            <a:r>
              <a:rPr sz="2800"/>
              <a:t>756</a:t>
            </a:r>
            <a:endParaRPr sz="2800"/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Total Matches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1874520"/>
            <a:ext cx="2560320" cy="749808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FFBE1E"/>
                </a:solidFill>
                <a:latin typeface="Calibri" panose="020F0502020204030204"/>
              </a:defRPr>
            </a:pPr>
            <a:r>
              <a:rPr sz="2800"/>
              <a:t>15</a:t>
            </a:r>
            <a:endParaRPr sz="2800"/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Total Teams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743200"/>
            <a:ext cx="2560320" cy="749808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FFBE1E"/>
                </a:solidFill>
                <a:latin typeface="Calibri" panose="020F0502020204030204"/>
              </a:defRPr>
            </a:pPr>
            <a:r>
              <a:rPr sz="2800"/>
              <a:t>235K</a:t>
            </a:r>
            <a:endParaRPr sz="2800"/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Total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3611880"/>
            <a:ext cx="2560320" cy="749808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FFBE1E"/>
                </a:solidFill>
                <a:latin typeface="Calibri" panose="020F0502020204030204"/>
              </a:defRPr>
            </a:pPr>
            <a:r>
              <a:rPr sz="2800"/>
              <a:t>8K</a:t>
            </a:r>
            <a:endParaRPr sz="2800"/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Total Sixes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4617720"/>
            <a:ext cx="5943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t>Dashboard Pages</a:t>
            </a:r>
          </a:p>
        </p:txBody>
      </p:sp>
      <p:sp>
        <p:nvSpPr>
          <p:cNvPr id="17" name="Oval 16"/>
          <p:cNvSpPr/>
          <p:nvPr/>
        </p:nvSpPr>
        <p:spPr>
          <a:xfrm>
            <a:off x="274320" y="5029200"/>
            <a:ext cx="292608" cy="292608"/>
          </a:xfrm>
          <a:prstGeom prst="ellipse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C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47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IPL Trends &amp; Team Dominance</a:t>
            </a:r>
          </a:p>
        </p:txBody>
      </p:sp>
      <p:sp>
        <p:nvSpPr>
          <p:cNvPr id="19" name="Oval 18"/>
          <p:cNvSpPr/>
          <p:nvPr/>
        </p:nvSpPr>
        <p:spPr>
          <a:xfrm>
            <a:off x="3291839" y="5029200"/>
            <a:ext cx="292608" cy="292608"/>
          </a:xfrm>
          <a:prstGeom prst="ellipse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C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7" y="5047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Team Performance Analysis</a:t>
            </a:r>
          </a:p>
        </p:txBody>
      </p:sp>
      <p:sp>
        <p:nvSpPr>
          <p:cNvPr id="21" name="Oval 20"/>
          <p:cNvSpPr/>
          <p:nvPr/>
        </p:nvSpPr>
        <p:spPr>
          <a:xfrm>
            <a:off x="6309359" y="5029200"/>
            <a:ext cx="292608" cy="292608"/>
          </a:xfrm>
          <a:prstGeom prst="ellipse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C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7" y="5047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Player Performance Analytics</a:t>
            </a:r>
          </a:p>
        </p:txBody>
      </p:sp>
      <p:sp>
        <p:nvSpPr>
          <p:cNvPr id="23" name="Oval 22"/>
          <p:cNvSpPr/>
          <p:nvPr/>
        </p:nvSpPr>
        <p:spPr>
          <a:xfrm>
            <a:off x="9326880" y="5029200"/>
            <a:ext cx="292608" cy="292608"/>
          </a:xfrm>
          <a:prstGeom prst="ellipse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C"/>
                </a:solidFill>
                <a:latin typeface="Calibri" panose="020F0502020204030204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5047488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Match Insights &amp; Advanced Analysis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59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3600"/>
              <a:t>Problem Statement</a:t>
            </a:r>
            <a:endParaRPr sz="3600"/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Why this dashboard was needed</a:t>
            </a:r>
            <a:endParaRPr sz="1600"/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ectangle 9"/>
          <p:cNvSpPr/>
          <p:nvPr/>
        </p:nvSpPr>
        <p:spPr>
          <a:xfrm>
            <a:off x="274320" y="1051560"/>
            <a:ext cx="5303520" cy="347472"/>
          </a:xfrm>
          <a:prstGeom prst="rect">
            <a:avLst/>
          </a:prstGeom>
          <a:solidFill>
            <a:srgbClr val="D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274320" y="105156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  ⚠  Challenges Without Analytics</a:t>
            </a:r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274320" y="1508760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🔴  Manual analysis of 756 matches is extremely time-consuming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274320" y="1929384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🔴  No unified view across teams, players &amp; venues</a:t>
            </a:r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274320" y="2350008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🔴  Hidden trends go undetected in raw spreadsheets</a:t>
            </a:r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274320" y="2770632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🔴  Toss, venue &amp; season patterns are invisible without BI tools</a:t>
            </a:r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274320" y="3191256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🔴  Impossible to compare player consistency across seasons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274320" y="3611879"/>
            <a:ext cx="53035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🔴  Decision-makers lack data-backed cricket intelligence</a:t>
            </a:r>
            <a:endParaRPr sz="1600"/>
          </a:p>
        </p:txBody>
      </p:sp>
      <p:sp>
        <p:nvSpPr>
          <p:cNvPr id="18" name="Rectangle 17"/>
          <p:cNvSpPr/>
          <p:nvPr/>
        </p:nvSpPr>
        <p:spPr>
          <a:xfrm>
            <a:off x="6035040" y="1051560"/>
            <a:ext cx="5852160" cy="347472"/>
          </a:xfrm>
          <a:prstGeom prst="rect">
            <a:avLst/>
          </a:prstGeom>
          <a:solidFill>
            <a:srgbClr val="39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6035040" y="1051560"/>
            <a:ext cx="5852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  ✔  Solutions Delivered</a:t>
            </a:r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6035040" y="1508760"/>
            <a:ext cx="5852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✅  Automated end-to-end data pipeline (Python + SQL)</a:t>
            </a:r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6035040" y="1929384"/>
            <a:ext cx="5852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✅  Unified interactive 5-page Power BI dashboard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6035040" y="2350008"/>
            <a:ext cx="5852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✅  Time-series trend visualization across all seasons</a:t>
            </a:r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6035040" y="2770632"/>
            <a:ext cx="5852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✅  Venue, toss &amp; city-level drill-down analysis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6035040" y="3191256"/>
            <a:ext cx="5852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✅  Player comparison with strike rate scatter plots</a:t>
            </a:r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6035040" y="3611879"/>
            <a:ext cx="5852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✅  Hypothesis-tested insights for strategic decisions</a:t>
            </a:r>
            <a:endParaRPr sz="1600"/>
          </a:p>
        </p:txBody>
      </p:sp>
      <p:sp>
        <p:nvSpPr>
          <p:cNvPr id="26" name="Rectangle 2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3200"/>
              <a:t>Project Objectives</a:t>
            </a:r>
            <a:endParaRPr sz="3200"/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Five analytical pillars of the IPL dashboard</a:t>
            </a:r>
            <a:endParaRPr sz="1600"/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ounded Rectangle 9"/>
          <p:cNvSpPr/>
          <p:nvPr/>
        </p:nvSpPr>
        <p:spPr>
          <a:xfrm>
            <a:off x="274320" y="1051560"/>
            <a:ext cx="11384280" cy="841248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Oval 10"/>
          <p:cNvSpPr/>
          <p:nvPr/>
        </p:nvSpPr>
        <p:spPr>
          <a:xfrm>
            <a:off x="384048" y="1252728"/>
            <a:ext cx="438912" cy="438912"/>
          </a:xfrm>
          <a:prstGeom prst="ellipse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C"/>
                </a:solidFill>
                <a:latin typeface="Calibri" panose="020F0502020204030204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124712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Interactive KPI Analysis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960120" y="1490472"/>
            <a:ext cx="10515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Dynamic filters for real-time metrics on wins, runs, wickets &amp; strike rates across all seasons.</a:t>
            </a:r>
            <a:endParaRPr sz="1600"/>
          </a:p>
        </p:txBody>
      </p:sp>
      <p:sp>
        <p:nvSpPr>
          <p:cNvPr id="14" name="Rounded Rectangle 13"/>
          <p:cNvSpPr/>
          <p:nvPr/>
        </p:nvSpPr>
        <p:spPr>
          <a:xfrm>
            <a:off x="274320" y="2075688"/>
            <a:ext cx="11384280" cy="841248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Oval 14"/>
          <p:cNvSpPr/>
          <p:nvPr/>
        </p:nvSpPr>
        <p:spPr>
          <a:xfrm>
            <a:off x="384048" y="2276856"/>
            <a:ext cx="438912" cy="438912"/>
          </a:xfrm>
          <a:prstGeom prst="ellipse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C"/>
                </a:solidFill>
                <a:latin typeface="Calibri" panose="020F0502020204030204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148840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Team Performance Analysis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960120" y="2514600"/>
            <a:ext cx="10515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Season-wise win percentages, team dominance trends, and head-to-head comparisons.</a:t>
            </a:r>
            <a:endParaRPr sz="1600"/>
          </a:p>
        </p:txBody>
      </p:sp>
      <p:sp>
        <p:nvSpPr>
          <p:cNvPr id="18" name="Rounded Rectangle 17"/>
          <p:cNvSpPr/>
          <p:nvPr/>
        </p:nvSpPr>
        <p:spPr>
          <a:xfrm>
            <a:off x="274320" y="3099816"/>
            <a:ext cx="11384280" cy="841248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9" name="Oval 18"/>
          <p:cNvSpPr/>
          <p:nvPr/>
        </p:nvSpPr>
        <p:spPr>
          <a:xfrm>
            <a:off x="384048" y="3300984"/>
            <a:ext cx="438912" cy="438912"/>
          </a:xfrm>
          <a:prstGeom prst="ellipse">
            <a:avLst/>
          </a:prstGeom>
          <a:solidFill>
            <a:srgbClr val="39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C"/>
                </a:solidFill>
                <a:latin typeface="Calibri" panose="020F0502020204030204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172968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rPr sz="1600"/>
              <a:t>Player Performance Analytics</a:t>
            </a:r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960120" y="3538728"/>
            <a:ext cx="10515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Top batsmen by runs, top bowlers by wickets, and scatter plot of runs vs. strike rate.</a:t>
            </a:r>
            <a:endParaRPr sz="1600"/>
          </a:p>
        </p:txBody>
      </p:sp>
      <p:sp>
        <p:nvSpPr>
          <p:cNvPr id="22" name="Rounded Rectangle 21"/>
          <p:cNvSpPr/>
          <p:nvPr/>
        </p:nvSpPr>
        <p:spPr>
          <a:xfrm>
            <a:off x="274320" y="4123944"/>
            <a:ext cx="11384280" cy="841248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Oval 22"/>
          <p:cNvSpPr/>
          <p:nvPr/>
        </p:nvSpPr>
        <p:spPr>
          <a:xfrm>
            <a:off x="384048" y="4325112"/>
            <a:ext cx="438912" cy="438912"/>
          </a:xfrm>
          <a:prstGeom prst="ellipse">
            <a:avLst/>
          </a:prstGeom>
          <a:solidFill>
            <a:srgbClr val="D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C"/>
                </a:solidFill>
                <a:latin typeface="Calibri" panose="020F0502020204030204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9709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DC3232"/>
                </a:solidFill>
                <a:latin typeface="Calibri" panose="020F0502020204030204"/>
              </a:defRPr>
            </a:pPr>
            <a:r>
              <a:rPr sz="1600"/>
              <a:t>Match Insights &amp; Venue Analysis</a:t>
            </a:r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960120" y="4562856"/>
            <a:ext cx="10515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Toss impact, win margins, venue-wise match counts and city-level geographic distribution.</a:t>
            </a:r>
            <a:endParaRPr sz="1600"/>
          </a:p>
        </p:txBody>
      </p:sp>
      <p:sp>
        <p:nvSpPr>
          <p:cNvPr id="26" name="Rounded Rectangle 25"/>
          <p:cNvSpPr/>
          <p:nvPr/>
        </p:nvSpPr>
        <p:spPr>
          <a:xfrm>
            <a:off x="274320" y="5148072"/>
            <a:ext cx="11384280" cy="841248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Oval 26"/>
          <p:cNvSpPr/>
          <p:nvPr/>
        </p:nvSpPr>
        <p:spPr>
          <a:xfrm>
            <a:off x="384048" y="5349240"/>
            <a:ext cx="438912" cy="438912"/>
          </a:xfrm>
          <a:prstGeom prst="ellipse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A193C"/>
                </a:solidFill>
                <a:latin typeface="Calibri" panose="020F0502020204030204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221224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Time Series &amp; Hypothesis Testing</a:t>
            </a:r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960120" y="5586983"/>
            <a:ext cx="10515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Season-by-season trend lines, forecasting patterns and validated statistical hypotheses.</a:t>
            </a:r>
            <a:endParaRPr sz="1600"/>
          </a:p>
        </p:txBody>
      </p:sp>
      <p:sp>
        <p:nvSpPr>
          <p:cNvPr id="30" name="Rectangle 29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845" y="28575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Dataset Information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t>IPL 2008–2019 raw data structure &amp; key metrics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051560"/>
            <a:ext cx="1783080" cy="1005840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FFBE1E"/>
                </a:solidFill>
                <a:latin typeface="Calibri" panose="020F0502020204030204"/>
              </a:defRPr>
            </a:pPr>
            <a:r>
              <a:t>756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Total Matches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76272" y="1051560"/>
            <a:ext cx="1783080" cy="1005840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00C8E6"/>
                </a:solidFill>
                <a:latin typeface="Calibri" panose="020F0502020204030204"/>
              </a:defRPr>
            </a:pPr>
            <a:r>
              <a:t>15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Total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78224" y="1051560"/>
            <a:ext cx="1783080" cy="1005840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39C878"/>
                </a:solidFill>
                <a:latin typeface="Calibri" panose="020F0502020204030204"/>
              </a:defRPr>
            </a:pPr>
            <a:r>
              <a:rPr sz="2400"/>
              <a:t>2008–2019</a:t>
            </a:r>
            <a:endParaRPr sz="2400"/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Seasons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0176" y="1051560"/>
            <a:ext cx="1783080" cy="1005840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FFBE1E"/>
                </a:solidFill>
                <a:latin typeface="Calibri" panose="020F0502020204030204"/>
              </a:defRPr>
            </a:pPr>
            <a:r>
              <a:t>235K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Total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8" y="1051560"/>
            <a:ext cx="1783080" cy="1005840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00C8E6"/>
                </a:solidFill>
                <a:latin typeface="Calibri" panose="020F0502020204030204"/>
              </a:defRPr>
            </a:pPr>
            <a:r>
              <a:t>179K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Total Wickets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84080" y="1051560"/>
            <a:ext cx="1783080" cy="1005840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DC3232"/>
                </a:solidFill>
                <a:latin typeface="Calibri" panose="020F0502020204030204"/>
              </a:defRPr>
            </a:pPr>
            <a:r>
              <a:t>516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Players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2331720"/>
            <a:ext cx="50292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t>Key Data Fields Tracked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788920"/>
            <a:ext cx="11430000" cy="384048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411480" y="2825496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Batting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1828800" y="2825496"/>
            <a:ext cx="9784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Runs · Balls · Strike Rate · Fours · Sixes · Dot Balls</a:t>
            </a:r>
            <a:endParaRPr sz="1600"/>
          </a:p>
        </p:txBody>
      </p:sp>
      <p:sp>
        <p:nvSpPr>
          <p:cNvPr id="20" name="Rounded Rectangle 19"/>
          <p:cNvSpPr/>
          <p:nvPr/>
        </p:nvSpPr>
        <p:spPr>
          <a:xfrm>
            <a:off x="274320" y="3282696"/>
            <a:ext cx="11430000" cy="384048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411480" y="3319272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Bowling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1828800" y="3319272"/>
            <a:ext cx="9784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Wickets · Economy Rate · Maiden Overs · Bowling Average</a:t>
            </a:r>
            <a:endParaRPr sz="1600"/>
          </a:p>
        </p:txBody>
      </p:sp>
      <p:sp>
        <p:nvSpPr>
          <p:cNvPr id="23" name="Rounded Rectangle 22"/>
          <p:cNvSpPr/>
          <p:nvPr/>
        </p:nvSpPr>
        <p:spPr>
          <a:xfrm>
            <a:off x="274320" y="3776472"/>
            <a:ext cx="11430000" cy="384048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411480" y="3813048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Teams</a:t>
            </a:r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1828800" y="3813048"/>
            <a:ext cx="9784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Wins · Win % · NRR · Home/Away Stats · Season Record</a:t>
            </a:r>
            <a:endParaRPr sz="1600"/>
          </a:p>
        </p:txBody>
      </p:sp>
      <p:sp>
        <p:nvSpPr>
          <p:cNvPr id="26" name="Rounded Rectangle 25"/>
          <p:cNvSpPr/>
          <p:nvPr/>
        </p:nvSpPr>
        <p:spPr>
          <a:xfrm>
            <a:off x="274320" y="4270248"/>
            <a:ext cx="11430000" cy="384048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411480" y="4306824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Matches</a:t>
            </a:r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1828800" y="4306824"/>
            <a:ext cx="9784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Toss Winner · Toss Decision · Venue · City · Margin</a:t>
            </a:r>
            <a:endParaRPr sz="1600"/>
          </a:p>
        </p:txBody>
      </p:sp>
      <p:sp>
        <p:nvSpPr>
          <p:cNvPr id="29" name="Rounded Rectangle 28"/>
          <p:cNvSpPr/>
          <p:nvPr/>
        </p:nvSpPr>
        <p:spPr>
          <a:xfrm>
            <a:off x="274320" y="4764024"/>
            <a:ext cx="11430000" cy="384048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411480" y="4800600"/>
            <a:ext cx="13716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Players</a:t>
            </a:r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1828800" y="4800600"/>
            <a:ext cx="97840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Name · Role · Country · Team · Seasons Active</a:t>
            </a:r>
            <a:endParaRPr sz="1600"/>
          </a:p>
        </p:txBody>
      </p:sp>
      <p:sp>
        <p:nvSpPr>
          <p:cNvPr id="32" name="Rectangle 3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Data Cleaning &amp; Preprocessing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143000"/>
            <a:ext cx="1645920" cy="14630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347472" y="1207008"/>
            <a:ext cx="14996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2000"/>
              <a:t>01</a:t>
            </a:r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347472" y="1572768"/>
            <a:ext cx="14996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COLLECT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347472" y="1920240"/>
            <a:ext cx="1499616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Raw CSV</a:t>
            </a:r>
            <a:br>
              <a:rPr sz="1600"/>
            </a:br>
            <a:r>
              <a:rPr sz="1600"/>
              <a:t>IPL datasets</a:t>
            </a:r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1965960" y="1627632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→</a:t>
            </a:r>
            <a:endParaRPr sz="1600"/>
          </a:p>
        </p:txBody>
      </p:sp>
      <p:sp>
        <p:nvSpPr>
          <p:cNvPr id="15" name="Rounded Rectangle 14"/>
          <p:cNvSpPr/>
          <p:nvPr/>
        </p:nvSpPr>
        <p:spPr>
          <a:xfrm>
            <a:off x="2212848" y="1143000"/>
            <a:ext cx="1645920" cy="14630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TextBox 15"/>
          <p:cNvSpPr txBox="1"/>
          <p:nvPr/>
        </p:nvSpPr>
        <p:spPr>
          <a:xfrm>
            <a:off x="2286000" y="1207008"/>
            <a:ext cx="14996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2000"/>
              <a:t>02</a:t>
            </a:r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2286000" y="1572768"/>
            <a:ext cx="14996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INSPECT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2286000" y="1920240"/>
            <a:ext cx="1499616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Nulls &amp;</a:t>
            </a:r>
            <a:br>
              <a:rPr sz="1600"/>
            </a:br>
            <a:r>
              <a:rPr sz="1600"/>
              <a:t>duplicates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3904487" y="1627632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→</a:t>
            </a:r>
            <a:endParaRPr sz="1600"/>
          </a:p>
        </p:txBody>
      </p:sp>
      <p:sp>
        <p:nvSpPr>
          <p:cNvPr id="20" name="Rounded Rectangle 19"/>
          <p:cNvSpPr/>
          <p:nvPr/>
        </p:nvSpPr>
        <p:spPr>
          <a:xfrm>
            <a:off x="4151376" y="1143000"/>
            <a:ext cx="1645920" cy="14630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4224528" y="1207008"/>
            <a:ext cx="14996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 i="0">
                <a:solidFill>
                  <a:srgbClr val="DC3232"/>
                </a:solidFill>
                <a:latin typeface="Calibri" panose="020F0502020204030204"/>
              </a:defRPr>
            </a:pPr>
            <a:r>
              <a:rPr sz="2000"/>
              <a:t>03</a:t>
            </a:r>
            <a:endParaRPr sz="2000"/>
          </a:p>
        </p:txBody>
      </p:sp>
      <p:sp>
        <p:nvSpPr>
          <p:cNvPr id="22" name="TextBox 21"/>
          <p:cNvSpPr txBox="1"/>
          <p:nvPr/>
        </p:nvSpPr>
        <p:spPr>
          <a:xfrm>
            <a:off x="4224528" y="1572768"/>
            <a:ext cx="14996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CLEAN</a:t>
            </a:r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4224528" y="1920240"/>
            <a:ext cx="1499616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Impute &amp;</a:t>
            </a:r>
            <a:br>
              <a:rPr sz="1600"/>
            </a:br>
            <a:r>
              <a:rPr sz="1600"/>
              <a:t>remove noise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5843016" y="1627632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→</a:t>
            </a:r>
            <a:endParaRPr sz="1600"/>
          </a:p>
        </p:txBody>
      </p:sp>
      <p:sp>
        <p:nvSpPr>
          <p:cNvPr id="25" name="Rounded Rectangle 24"/>
          <p:cNvSpPr/>
          <p:nvPr/>
        </p:nvSpPr>
        <p:spPr>
          <a:xfrm>
            <a:off x="6089904" y="1143000"/>
            <a:ext cx="1645920" cy="14630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6163056" y="1207008"/>
            <a:ext cx="14996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rPr sz="2000"/>
              <a:t>04</a:t>
            </a:r>
            <a:endParaRPr sz="2000"/>
          </a:p>
        </p:txBody>
      </p:sp>
      <p:sp>
        <p:nvSpPr>
          <p:cNvPr id="27" name="TextBox 26"/>
          <p:cNvSpPr txBox="1"/>
          <p:nvPr/>
        </p:nvSpPr>
        <p:spPr>
          <a:xfrm>
            <a:off x="6163056" y="1572768"/>
            <a:ext cx="14996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TRANSFORM</a:t>
            </a:r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6163056" y="1920240"/>
            <a:ext cx="1499616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Types &amp;</a:t>
            </a:r>
            <a:br>
              <a:rPr sz="1600"/>
            </a:br>
            <a:r>
              <a:rPr sz="1600"/>
              <a:t>normalize</a:t>
            </a:r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7781544" y="1627632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→</a:t>
            </a:r>
            <a:endParaRPr sz="1600"/>
          </a:p>
        </p:txBody>
      </p:sp>
      <p:sp>
        <p:nvSpPr>
          <p:cNvPr id="30" name="Rounded Rectangle 29"/>
          <p:cNvSpPr/>
          <p:nvPr/>
        </p:nvSpPr>
        <p:spPr>
          <a:xfrm>
            <a:off x="8028432" y="1143000"/>
            <a:ext cx="1645920" cy="14630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8101584" y="1207008"/>
            <a:ext cx="14996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2000"/>
              <a:t>05</a:t>
            </a:r>
            <a:endParaRPr sz="2000"/>
          </a:p>
        </p:txBody>
      </p:sp>
      <p:sp>
        <p:nvSpPr>
          <p:cNvPr id="32" name="TextBox 31"/>
          <p:cNvSpPr txBox="1"/>
          <p:nvPr/>
        </p:nvSpPr>
        <p:spPr>
          <a:xfrm>
            <a:off x="8101584" y="1572768"/>
            <a:ext cx="14996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ENGINEER</a:t>
            </a:r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8101584" y="1920240"/>
            <a:ext cx="1499616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Derived</a:t>
            </a:r>
            <a:br>
              <a:rPr sz="1600"/>
            </a:br>
            <a:r>
              <a:rPr sz="1600"/>
              <a:t>features</a:t>
            </a:r>
            <a:endParaRPr sz="1600"/>
          </a:p>
        </p:txBody>
      </p:sp>
      <p:sp>
        <p:nvSpPr>
          <p:cNvPr id="34" name="TextBox 33"/>
          <p:cNvSpPr txBox="1"/>
          <p:nvPr/>
        </p:nvSpPr>
        <p:spPr>
          <a:xfrm>
            <a:off x="9720072" y="1627632"/>
            <a:ext cx="274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→</a:t>
            </a:r>
            <a:endParaRPr sz="1600"/>
          </a:p>
        </p:txBody>
      </p:sp>
      <p:sp>
        <p:nvSpPr>
          <p:cNvPr id="35" name="Rounded Rectangle 34"/>
          <p:cNvSpPr/>
          <p:nvPr/>
        </p:nvSpPr>
        <p:spPr>
          <a:xfrm>
            <a:off x="9966960" y="1143000"/>
            <a:ext cx="1645920" cy="14630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6" name="TextBox 35"/>
          <p:cNvSpPr txBox="1"/>
          <p:nvPr/>
        </p:nvSpPr>
        <p:spPr>
          <a:xfrm>
            <a:off x="10040112" y="1207008"/>
            <a:ext cx="1499616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2000"/>
              <a:t>06</a:t>
            </a:r>
            <a:endParaRPr sz="2000"/>
          </a:p>
        </p:txBody>
      </p:sp>
      <p:sp>
        <p:nvSpPr>
          <p:cNvPr id="37" name="TextBox 36"/>
          <p:cNvSpPr txBox="1"/>
          <p:nvPr/>
        </p:nvSpPr>
        <p:spPr>
          <a:xfrm>
            <a:off x="10040112" y="1572768"/>
            <a:ext cx="1499616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EXPORT</a:t>
            </a:r>
            <a:endParaRPr sz="1600"/>
          </a:p>
        </p:txBody>
      </p:sp>
      <p:sp>
        <p:nvSpPr>
          <p:cNvPr id="38" name="TextBox 37"/>
          <p:cNvSpPr txBox="1"/>
          <p:nvPr/>
        </p:nvSpPr>
        <p:spPr>
          <a:xfrm>
            <a:off x="10040112" y="1920240"/>
            <a:ext cx="1499616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Clean data</a:t>
            </a:r>
            <a:br>
              <a:rPr sz="1600"/>
            </a:br>
            <a:r>
              <a:rPr sz="1600"/>
              <a:t>to BI tool</a:t>
            </a:r>
            <a:endParaRPr sz="1600"/>
          </a:p>
        </p:txBody>
      </p:sp>
      <p:sp>
        <p:nvSpPr>
          <p:cNvPr id="39" name="TextBox 38"/>
          <p:cNvSpPr txBox="1"/>
          <p:nvPr/>
        </p:nvSpPr>
        <p:spPr>
          <a:xfrm>
            <a:off x="274320" y="2834640"/>
            <a:ext cx="11612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Key Techniques Applied</a:t>
            </a:r>
            <a:endParaRPr sz="1600"/>
          </a:p>
        </p:txBody>
      </p:sp>
      <p:sp>
        <p:nvSpPr>
          <p:cNvPr id="40" name="Rounded Rectangle 39"/>
          <p:cNvSpPr/>
          <p:nvPr/>
        </p:nvSpPr>
        <p:spPr>
          <a:xfrm>
            <a:off x="274320" y="3291840"/>
            <a:ext cx="11430000" cy="457200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1" name="TextBox 40"/>
          <p:cNvSpPr txBox="1"/>
          <p:nvPr/>
        </p:nvSpPr>
        <p:spPr>
          <a:xfrm>
            <a:off x="411480" y="3337560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✦  Null Handling:</a:t>
            </a:r>
            <a:endParaRPr sz="1600"/>
          </a:p>
        </p:txBody>
      </p:sp>
      <p:sp>
        <p:nvSpPr>
          <p:cNvPr id="42" name="TextBox 41"/>
          <p:cNvSpPr txBox="1"/>
          <p:nvPr/>
        </p:nvSpPr>
        <p:spPr>
          <a:xfrm>
            <a:off x="2560320" y="3337560"/>
            <a:ext cx="9052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Forward-fill, median imputation for missing player stats and match results</a:t>
            </a:r>
            <a:endParaRPr sz="1600"/>
          </a:p>
        </p:txBody>
      </p:sp>
      <p:sp>
        <p:nvSpPr>
          <p:cNvPr id="43" name="Rounded Rectangle 42"/>
          <p:cNvSpPr/>
          <p:nvPr/>
        </p:nvSpPr>
        <p:spPr>
          <a:xfrm>
            <a:off x="274320" y="3858768"/>
            <a:ext cx="11430000" cy="457200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4" name="TextBox 43"/>
          <p:cNvSpPr txBox="1"/>
          <p:nvPr/>
        </p:nvSpPr>
        <p:spPr>
          <a:xfrm>
            <a:off x="411480" y="3904487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✦  Deduplication:</a:t>
            </a:r>
            <a:endParaRPr sz="1600"/>
          </a:p>
        </p:txBody>
      </p:sp>
      <p:sp>
        <p:nvSpPr>
          <p:cNvPr id="45" name="TextBox 44"/>
          <p:cNvSpPr txBox="1"/>
          <p:nvPr/>
        </p:nvSpPr>
        <p:spPr>
          <a:xfrm>
            <a:off x="2560320" y="3904487"/>
            <a:ext cx="9052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Removed 43 duplicate match records; standardized team &amp; player name formats</a:t>
            </a:r>
            <a:endParaRPr sz="1600"/>
          </a:p>
        </p:txBody>
      </p:sp>
      <p:sp>
        <p:nvSpPr>
          <p:cNvPr id="46" name="Rounded Rectangle 45"/>
          <p:cNvSpPr/>
          <p:nvPr/>
        </p:nvSpPr>
        <p:spPr>
          <a:xfrm>
            <a:off x="274320" y="4425696"/>
            <a:ext cx="11430000" cy="457200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47" name="TextBox 46"/>
          <p:cNvSpPr txBox="1"/>
          <p:nvPr/>
        </p:nvSpPr>
        <p:spPr>
          <a:xfrm>
            <a:off x="411480" y="4471416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✦  Type Conversion:</a:t>
            </a:r>
            <a:endParaRPr sz="1600"/>
          </a:p>
        </p:txBody>
      </p:sp>
      <p:sp>
        <p:nvSpPr>
          <p:cNvPr id="48" name="TextBox 47"/>
          <p:cNvSpPr txBox="1"/>
          <p:nvPr/>
        </p:nvSpPr>
        <p:spPr>
          <a:xfrm>
            <a:off x="2560320" y="4471416"/>
            <a:ext cx="9052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Parsed date fields, cast numeric columns (runs, balls) to correct dtypes</a:t>
            </a:r>
            <a:endParaRPr sz="1600"/>
          </a:p>
        </p:txBody>
      </p:sp>
      <p:sp>
        <p:nvSpPr>
          <p:cNvPr id="49" name="Rounded Rectangle 48"/>
          <p:cNvSpPr/>
          <p:nvPr/>
        </p:nvSpPr>
        <p:spPr>
          <a:xfrm>
            <a:off x="274320" y="4992624"/>
            <a:ext cx="11430000" cy="457200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0" name="TextBox 49"/>
          <p:cNvSpPr txBox="1"/>
          <p:nvPr/>
        </p:nvSpPr>
        <p:spPr>
          <a:xfrm>
            <a:off x="411480" y="5038344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400"/>
              <a:t>✦  Feature Engineering:</a:t>
            </a:r>
            <a:endParaRPr sz="1400"/>
          </a:p>
        </p:txBody>
      </p:sp>
      <p:sp>
        <p:nvSpPr>
          <p:cNvPr id="51" name="TextBox 50"/>
          <p:cNvSpPr txBox="1"/>
          <p:nvPr/>
        </p:nvSpPr>
        <p:spPr>
          <a:xfrm>
            <a:off x="2560320" y="5038344"/>
            <a:ext cx="9052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Derived Strike Rate, Economy Rate, Win %, Run Rate per season</a:t>
            </a:r>
            <a:endParaRPr sz="1600"/>
          </a:p>
        </p:txBody>
      </p:sp>
      <p:sp>
        <p:nvSpPr>
          <p:cNvPr id="52" name="Rounded Rectangle 51"/>
          <p:cNvSpPr/>
          <p:nvPr/>
        </p:nvSpPr>
        <p:spPr>
          <a:xfrm>
            <a:off x="274320" y="5559552"/>
            <a:ext cx="11430000" cy="457200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53" name="TextBox 52"/>
          <p:cNvSpPr txBox="1"/>
          <p:nvPr/>
        </p:nvSpPr>
        <p:spPr>
          <a:xfrm>
            <a:off x="411480" y="5605272"/>
            <a:ext cx="2103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✦  SQL Aggregation:</a:t>
            </a:r>
            <a:endParaRPr sz="1600"/>
          </a:p>
        </p:txBody>
      </p:sp>
      <p:sp>
        <p:nvSpPr>
          <p:cNvPr id="54" name="TextBox 53"/>
          <p:cNvSpPr txBox="1"/>
          <p:nvPr/>
        </p:nvSpPr>
        <p:spPr>
          <a:xfrm>
            <a:off x="2560320" y="5605272"/>
            <a:ext cx="9052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Window functions for season rankings, rolling averages, and cumulative stats</a:t>
            </a:r>
            <a:endParaRPr sz="1600"/>
          </a:p>
        </p:txBody>
      </p:sp>
      <p:sp>
        <p:nvSpPr>
          <p:cNvPr id="55" name="Rectangle 5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Data Modeling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t>Star schema: fact + dimension tables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011680"/>
            <a:ext cx="3291840" cy="2560320"/>
          </a:xfrm>
          <a:prstGeom prst="roundRect">
            <a:avLst/>
          </a:prstGeom>
          <a:solidFill>
            <a:srgbClr val="193C82"/>
          </a:solidFill>
          <a:ln w="381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2121408"/>
            <a:ext cx="3108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t>⭐  FACT_MATCHES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487168"/>
            <a:ext cx="3108960" cy="36576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2578608"/>
            <a:ext cx="3108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match_id (PK)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816352"/>
            <a:ext cx="3108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54096"/>
            <a:ext cx="3108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venue_id (FK)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291840"/>
            <a:ext cx="3108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team1_id (FK)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529584"/>
            <a:ext cx="3108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team2_id (FK)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767328"/>
            <a:ext cx="3108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winner_id (FK)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005072"/>
            <a:ext cx="3108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toss_decision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242816"/>
            <a:ext cx="310896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result_margin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1097280"/>
            <a:ext cx="3291840" cy="19202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1170432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t>DIM_TEAMS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508760"/>
            <a:ext cx="3108960" cy="2743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1572768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team_id (PK)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1819656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team_name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2066544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home_ground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2313432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founded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192024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t>━━━━►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" y="3657600"/>
            <a:ext cx="3291840" cy="19202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3730752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t>DIM_PLAYERS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069080"/>
            <a:ext cx="3108960" cy="2743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133088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player_id (PK)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4379976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name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4626864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role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4873752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country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120640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team_id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448056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t>━━━━►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595360" y="1097280"/>
            <a:ext cx="3291840" cy="19202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1170432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DC3232"/>
                </a:solidFill>
                <a:latin typeface="Calibri" panose="020F0502020204030204"/>
              </a:defRPr>
            </a:pPr>
            <a:r>
              <a:t>DIM_VENUES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86800" y="1508760"/>
            <a:ext cx="3108960" cy="2743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1572768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venue_id (PK)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1819656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name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2066544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city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2313432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capacity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0" y="192024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t>━━━━►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595360" y="3657600"/>
            <a:ext cx="3291840" cy="19202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0" y="3730752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t>FACT_BATTING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4069080"/>
            <a:ext cx="3108960" cy="2743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0" y="4133088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bat_id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4379976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match_id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0" y="4626864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player_id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0" y="4873752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runs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5120640"/>
            <a:ext cx="3108960" cy="24688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  SR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448056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t>━━━━►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74320" y="6400800"/>
            <a:ext cx="116128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 i="1">
                <a:solidFill>
                  <a:srgbClr val="FFBE1E"/>
                </a:solidFill>
                <a:latin typeface="Calibri" panose="020F0502020204030204"/>
              </a:defRPr>
            </a:pPr>
            <a:r>
              <a:t>One-to-Many Relationships via Foreign Keys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Dashboard Overview — IPL Trends &amp; Team Dominance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t>Page 1 of 4  |  Interactive Power BI with city map, venue charts, and season trends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2026-05-17_1415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8395335" cy="54991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" y="960120"/>
            <a:ext cx="8412480" cy="5523865"/>
          </a:xfrm>
          <a:prstGeom prst="rect">
            <a:avLst/>
          </a:prstGeom>
          <a:noFill/>
          <a:ln w="317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23960" y="1097280"/>
            <a:ext cx="3108960" cy="128016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1261872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t>🏆  756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755648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Matches Analysed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606039"/>
            <a:ext cx="3108960" cy="128016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770632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t>📍  7+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264407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Top Venues Mapped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4114800"/>
            <a:ext cx="3108960" cy="128016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0" y="4279392"/>
            <a:ext cx="283464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t>📅  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773168"/>
            <a:ext cx="2834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t>Seasons Covered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5577840"/>
            <a:ext cx="3108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1">
                <a:solidFill>
                  <a:srgbClr val="96AFD2"/>
                </a:solidFill>
                <a:latin typeface="Calibri" panose="020F0502020204030204"/>
              </a:defRPr>
            </a:pPr>
            <a:r>
              <a:t>Filters: City  •  Season  •  Team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Team Performance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t>Page 2  |  Season-wise wins, win %, team dominance &amp; match scatter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2026-05-17_1416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9645"/>
            <a:ext cx="7498080" cy="53543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" y="960120"/>
            <a:ext cx="7498080" cy="5344795"/>
          </a:xfrm>
          <a:prstGeom prst="rect">
            <a:avLst/>
          </a:prstGeom>
          <a:noFill/>
          <a:ln w="317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1005840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Overall Wins — Top 5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7955279" y="1463040"/>
            <a:ext cx="3931920" cy="475488"/>
          </a:xfrm>
          <a:prstGeom prst="roundRect">
            <a:avLst/>
          </a:prstGeom>
          <a:solidFill>
            <a:srgbClr val="0F2350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8092440" y="152704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1.  Mumbai Indians</a:t>
            </a:r>
            <a:endParaRPr sz="1600"/>
          </a:p>
        </p:txBody>
      </p:sp>
      <p:sp>
        <p:nvSpPr>
          <p:cNvPr id="15" name="Rounded Rectangle 14"/>
          <p:cNvSpPr/>
          <p:nvPr/>
        </p:nvSpPr>
        <p:spPr>
          <a:xfrm>
            <a:off x="11064240" y="1545336"/>
            <a:ext cx="731520" cy="320040"/>
          </a:xfrm>
          <a:prstGeom prst="round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100 W</a:t>
            </a:r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7955279" y="2057400"/>
            <a:ext cx="3931920" cy="475488"/>
          </a:xfrm>
          <a:prstGeom prst="roundRect">
            <a:avLst/>
          </a:prstGeom>
          <a:solidFill>
            <a:srgbClr val="0F2350"/>
          </a:solidFill>
          <a:ln w="1905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8092440" y="212140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2.  Chennai Super Kings</a:t>
            </a:r>
            <a:endParaRPr sz="1600"/>
          </a:p>
        </p:txBody>
      </p:sp>
      <p:sp>
        <p:nvSpPr>
          <p:cNvPr id="18" name="Rounded Rectangle 17"/>
          <p:cNvSpPr/>
          <p:nvPr/>
        </p:nvSpPr>
        <p:spPr>
          <a:xfrm>
            <a:off x="11064240" y="2139696"/>
            <a:ext cx="731520" cy="320040"/>
          </a:xfrm>
          <a:prstGeom prst="roundRect">
            <a:avLst/>
          </a:prstGeom>
          <a:solidFill>
            <a:srgbClr val="39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96 W</a:t>
            </a:r>
            <a:endParaRPr sz="1600"/>
          </a:p>
        </p:txBody>
      </p:sp>
      <p:sp>
        <p:nvSpPr>
          <p:cNvPr id="19" name="Rounded Rectangle 18"/>
          <p:cNvSpPr/>
          <p:nvPr/>
        </p:nvSpPr>
        <p:spPr>
          <a:xfrm>
            <a:off x="7955279" y="2651760"/>
            <a:ext cx="3931920" cy="475488"/>
          </a:xfrm>
          <a:prstGeom prst="roundRect">
            <a:avLst/>
          </a:prstGeom>
          <a:solidFill>
            <a:srgbClr val="0F2350"/>
          </a:solidFill>
          <a:ln w="190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8092440" y="271576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3.  Kolkata Knight Riders</a:t>
            </a:r>
            <a:endParaRPr sz="1600"/>
          </a:p>
        </p:txBody>
      </p:sp>
      <p:sp>
        <p:nvSpPr>
          <p:cNvPr id="21" name="Rounded Rectangle 20"/>
          <p:cNvSpPr/>
          <p:nvPr/>
        </p:nvSpPr>
        <p:spPr>
          <a:xfrm>
            <a:off x="11064240" y="2734056"/>
            <a:ext cx="731520" cy="320040"/>
          </a:xfrm>
          <a:prstGeom prst="round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85 W</a:t>
            </a:r>
            <a:endParaRPr sz="1600"/>
          </a:p>
        </p:txBody>
      </p:sp>
      <p:sp>
        <p:nvSpPr>
          <p:cNvPr id="22" name="Rounded Rectangle 21"/>
          <p:cNvSpPr/>
          <p:nvPr/>
        </p:nvSpPr>
        <p:spPr>
          <a:xfrm>
            <a:off x="7955279" y="3246120"/>
            <a:ext cx="3931920" cy="475488"/>
          </a:xfrm>
          <a:prstGeom prst="roundRect">
            <a:avLst/>
          </a:prstGeom>
          <a:solidFill>
            <a:srgbClr val="0F2350"/>
          </a:solidFill>
          <a:ln w="19050"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8092440" y="3310127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4.  Royal Challengers</a:t>
            </a:r>
            <a:endParaRPr sz="1600"/>
          </a:p>
        </p:txBody>
      </p:sp>
      <p:sp>
        <p:nvSpPr>
          <p:cNvPr id="24" name="Rounded Rectangle 23"/>
          <p:cNvSpPr/>
          <p:nvPr/>
        </p:nvSpPr>
        <p:spPr>
          <a:xfrm>
            <a:off x="11064240" y="3328415"/>
            <a:ext cx="731520" cy="320040"/>
          </a:xfrm>
          <a:prstGeom prst="roundRect">
            <a:avLst/>
          </a:prstGeom>
          <a:solidFill>
            <a:srgbClr val="D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78 W</a:t>
            </a:r>
            <a:endParaRPr sz="1600"/>
          </a:p>
        </p:txBody>
      </p:sp>
      <p:sp>
        <p:nvSpPr>
          <p:cNvPr id="25" name="Rounded Rectangle 24"/>
          <p:cNvSpPr/>
          <p:nvPr/>
        </p:nvSpPr>
        <p:spPr>
          <a:xfrm>
            <a:off x="7955279" y="3840480"/>
            <a:ext cx="3931920" cy="475488"/>
          </a:xfrm>
          <a:prstGeom prst="roundRect">
            <a:avLst/>
          </a:prstGeom>
          <a:solidFill>
            <a:srgbClr val="0F2350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8092440" y="3904488"/>
            <a:ext cx="2743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5.  Kings XI Punjab</a:t>
            </a:r>
            <a:endParaRPr sz="1600"/>
          </a:p>
        </p:txBody>
      </p:sp>
      <p:sp>
        <p:nvSpPr>
          <p:cNvPr id="27" name="Rounded Rectangle 26"/>
          <p:cNvSpPr/>
          <p:nvPr/>
        </p:nvSpPr>
        <p:spPr>
          <a:xfrm>
            <a:off x="11064240" y="3922776"/>
            <a:ext cx="731520" cy="320040"/>
          </a:xfrm>
          <a:prstGeom prst="round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73 W</a:t>
            </a:r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7955279" y="4572000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Key Insights</a:t>
            </a:r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7955279" y="4956048"/>
            <a:ext cx="3931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✦  MI most dominant — 5 IPL titles</a:t>
            </a:r>
            <a:endParaRPr sz="1600"/>
          </a:p>
        </p:txBody>
      </p:sp>
      <p:sp>
        <p:nvSpPr>
          <p:cNvPr id="30" name="TextBox 29"/>
          <p:cNvSpPr txBox="1"/>
          <p:nvPr/>
        </p:nvSpPr>
        <p:spPr>
          <a:xfrm>
            <a:off x="7955279" y="5358384"/>
            <a:ext cx="3931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✦  CSK consistently in top 2</a:t>
            </a:r>
            <a:endParaRPr sz="1600"/>
          </a:p>
        </p:txBody>
      </p:sp>
      <p:sp>
        <p:nvSpPr>
          <p:cNvPr id="31" name="TextBox 30"/>
          <p:cNvSpPr txBox="1"/>
          <p:nvPr/>
        </p:nvSpPr>
        <p:spPr>
          <a:xfrm>
            <a:off x="7955279" y="5760720"/>
            <a:ext cx="3931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✦  2013 peak season for matches played</a:t>
            </a:r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7955279" y="6163056"/>
            <a:ext cx="393192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✦  Win% correlates with player retention</a:t>
            </a:r>
            <a:endParaRPr sz="1600"/>
          </a:p>
        </p:txBody>
      </p:sp>
      <p:sp>
        <p:nvSpPr>
          <p:cNvPr id="33" name="Rectangle 32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Player Performance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t>Page 3  |  Top batsmen, top bowlers, run vs. strike rate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2026-05-17_1416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7498079" cy="4297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" y="960120"/>
            <a:ext cx="7498079" cy="4297680"/>
          </a:xfrm>
          <a:prstGeom prst="rect">
            <a:avLst/>
          </a:prstGeom>
          <a:noFill/>
          <a:ln w="317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1005840"/>
            <a:ext cx="3931920" cy="804672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FFBE1E"/>
                </a:solidFill>
                <a:latin typeface="Calibri" panose="020F0502020204030204"/>
              </a:defRPr>
            </a:pPr>
            <a:r>
              <a:t>235K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Total Runs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965960"/>
            <a:ext cx="3931920" cy="804672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00C8E6"/>
                </a:solidFill>
                <a:latin typeface="Calibri" panose="020F0502020204030204"/>
              </a:defRPr>
            </a:pPr>
            <a:r>
              <a:t>179K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Total Wickets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926080"/>
            <a:ext cx="3931920" cy="804672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39C878"/>
                </a:solidFill>
                <a:latin typeface="Calibri" panose="020F0502020204030204"/>
              </a:defRPr>
            </a:pPr>
            <a:r>
              <a:t>124.69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Avg Strike Rate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886200"/>
            <a:ext cx="3931920" cy="804672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DC3232"/>
                </a:solidFill>
                <a:latin typeface="Calibri" panose="020F0502020204030204"/>
              </a:defRPr>
            </a:pPr>
            <a:r>
              <a:t>516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Players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544068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t>🏏  Top Batsmen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5833872"/>
            <a:ext cx="3657600" cy="685800"/>
          </a:xfrm>
          <a:prstGeom prst="roundRect">
            <a:avLst/>
          </a:prstGeom>
          <a:solidFill>
            <a:srgbClr val="0F2350"/>
          </a:solidFill>
          <a:ln w="127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384048" y="5897880"/>
            <a:ext cx="3383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SK Raina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384048" y="6144768"/>
            <a:ext cx="3383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5,500+ runs  ·  162 M</a:t>
            </a:r>
            <a:endParaRPr sz="1600"/>
          </a:p>
        </p:txBody>
      </p:sp>
      <p:sp>
        <p:nvSpPr>
          <p:cNvPr id="20" name="Rounded Rectangle 19"/>
          <p:cNvSpPr/>
          <p:nvPr/>
        </p:nvSpPr>
        <p:spPr>
          <a:xfrm>
            <a:off x="4206240" y="5833872"/>
            <a:ext cx="3657600" cy="685800"/>
          </a:xfrm>
          <a:prstGeom prst="roundRect">
            <a:avLst/>
          </a:prstGeom>
          <a:solidFill>
            <a:srgbClr val="0F2350"/>
          </a:solidFill>
          <a:ln w="127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4315968" y="5897880"/>
            <a:ext cx="3383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V Kohli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4315968" y="6144768"/>
            <a:ext cx="3383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5,400+ runs  ·  177 M</a:t>
            </a:r>
            <a:endParaRPr sz="1600"/>
          </a:p>
        </p:txBody>
      </p:sp>
      <p:sp>
        <p:nvSpPr>
          <p:cNvPr id="23" name="Rounded Rectangle 22"/>
          <p:cNvSpPr/>
          <p:nvPr/>
        </p:nvSpPr>
        <p:spPr>
          <a:xfrm>
            <a:off x="8138159" y="5833872"/>
            <a:ext cx="3657600" cy="685800"/>
          </a:xfrm>
          <a:prstGeom prst="roundRect">
            <a:avLst/>
          </a:prstGeom>
          <a:solidFill>
            <a:srgbClr val="0F2350"/>
          </a:solidFill>
          <a:ln w="127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8247887" y="5897880"/>
            <a:ext cx="3383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5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RG Sharma</a:t>
            </a:r>
            <a:endParaRPr sz="1600"/>
          </a:p>
        </p:txBody>
      </p:sp>
      <p:sp>
        <p:nvSpPr>
          <p:cNvPr id="25" name="TextBox 24"/>
          <p:cNvSpPr txBox="1"/>
          <p:nvPr/>
        </p:nvSpPr>
        <p:spPr>
          <a:xfrm>
            <a:off x="8247887" y="6144768"/>
            <a:ext cx="33832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5,200+ runs  ·  164 M</a:t>
            </a:r>
            <a:endParaRPr sz="1600"/>
          </a:p>
        </p:txBody>
      </p:sp>
      <p:sp>
        <p:nvSpPr>
          <p:cNvPr id="26" name="TextBox 25"/>
          <p:cNvSpPr txBox="1"/>
          <p:nvPr/>
        </p:nvSpPr>
        <p:spPr>
          <a:xfrm>
            <a:off x="274320" y="544068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t>🎳  Top Bowlers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Match Insights &amp; Advanced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t>Page 4  |  Venue heatmap, toss impact, win margins &amp; city drill-down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shot_2026-05-17_1419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7498079" cy="42976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8600" y="960120"/>
            <a:ext cx="7498079" cy="4297680"/>
          </a:xfrm>
          <a:prstGeom prst="rect">
            <a:avLst/>
          </a:prstGeom>
          <a:noFill/>
          <a:ln w="317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09560" y="1005840"/>
            <a:ext cx="3931920" cy="804672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FFBE1E"/>
                </a:solidFill>
                <a:latin typeface="Calibri" panose="020F0502020204030204"/>
              </a:defRPr>
            </a:pPr>
            <a:r>
              <a:t>1.00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Toss Win 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1965960"/>
            <a:ext cx="3931920" cy="804672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00C8E6"/>
                </a:solidFill>
                <a:latin typeface="Calibri" panose="020F0502020204030204"/>
              </a:defRPr>
            </a:pPr>
            <a:r>
              <a:t>0.56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Toss Impact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926080"/>
            <a:ext cx="3931920" cy="804672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39C878"/>
                </a:solidFill>
                <a:latin typeface="Calibri" panose="020F0502020204030204"/>
              </a:defRPr>
            </a:pPr>
            <a:r>
              <a:t>11.31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Avg Win Runs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886200"/>
            <a:ext cx="3931920" cy="804672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DC3232"/>
                </a:solidFill>
                <a:latin typeface="Calibri" panose="020F0502020204030204"/>
              </a:defRPr>
            </a:pPr>
            <a:r>
              <a:t>Eden</a:t>
            </a:r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t>Top 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9560" y="4919472"/>
            <a:ext cx="39319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Advanced Insights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7909560" y="5303520"/>
            <a:ext cx="393192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✦  Toss winners win 56% of matches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7909560" y="5687568"/>
            <a:ext cx="393192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✦  Eden Gardens hosts most matches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7909560" y="6071616"/>
            <a:ext cx="393192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✦  MI dominate home win stats</a:t>
            </a:r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7909560" y="6455664"/>
            <a:ext cx="3931920" cy="33832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✦  Fielding-first trend increasing</a:t>
            </a:r>
            <a:endParaRPr sz="1600"/>
          </a:p>
        </p:txBody>
      </p:sp>
      <p:sp>
        <p:nvSpPr>
          <p:cNvPr id="21" name="Rectangle 20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Hypothesis &amp; Graphical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Statistical validation of cricket strategy assumptions using IPL historical data</a:t>
            </a:r>
            <a:endParaRPr sz="1600"/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Rounded Rectangle 9"/>
          <p:cNvSpPr/>
          <p:nvPr/>
        </p:nvSpPr>
        <p:spPr>
          <a:xfrm>
            <a:off x="274320" y="1051560"/>
            <a:ext cx="11430000" cy="91440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10332720" y="1325880"/>
            <a:ext cx="1280160" cy="347472"/>
          </a:xfrm>
          <a:prstGeom prst="roundRect">
            <a:avLst/>
          </a:prstGeom>
          <a:solidFill>
            <a:srgbClr val="39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CONFIRMED</a:t>
            </a:r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411480" y="1124712"/>
            <a:ext cx="502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rPr sz="1600"/>
              <a:t>H₁</a:t>
            </a:r>
            <a:endParaRPr sz="1600"/>
          </a:p>
        </p:txBody>
      </p:sp>
      <p:sp>
        <p:nvSpPr>
          <p:cNvPr id="13" name="TextBox 12"/>
          <p:cNvSpPr txBox="1"/>
          <p:nvPr/>
        </p:nvSpPr>
        <p:spPr>
          <a:xfrm>
            <a:off x="1005840" y="112471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Toss winners have a higher match win probability</a:t>
            </a:r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1005840" y="1563624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Evidence:  56% of toss winners won the match across all seasons</a:t>
            </a:r>
            <a:endParaRPr sz="1600"/>
          </a:p>
        </p:txBody>
      </p:sp>
      <p:sp>
        <p:nvSpPr>
          <p:cNvPr id="15" name="Rounded Rectangle 14"/>
          <p:cNvSpPr/>
          <p:nvPr/>
        </p:nvSpPr>
        <p:spPr>
          <a:xfrm>
            <a:off x="274320" y="2167128"/>
            <a:ext cx="11430000" cy="91440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10332720" y="2441448"/>
            <a:ext cx="1280160" cy="347472"/>
          </a:xfrm>
          <a:prstGeom prst="round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PARTIAL</a:t>
            </a:r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411480" y="2240280"/>
            <a:ext cx="502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H₂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1005840" y="224028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Teams batting first have strategic advantage</a:t>
            </a:r>
            <a:endParaRPr sz="1600"/>
          </a:p>
        </p:txBody>
      </p:sp>
      <p:sp>
        <p:nvSpPr>
          <p:cNvPr id="19" name="TextBox 18"/>
          <p:cNvSpPr txBox="1"/>
          <p:nvPr/>
        </p:nvSpPr>
        <p:spPr>
          <a:xfrm>
            <a:off x="1005840" y="2679192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Evidence:  Defending teams won 48% — chasing improved post-2015</a:t>
            </a:r>
            <a:endParaRPr sz="1600"/>
          </a:p>
        </p:txBody>
      </p:sp>
      <p:sp>
        <p:nvSpPr>
          <p:cNvPr id="20" name="Rounded Rectangle 19"/>
          <p:cNvSpPr/>
          <p:nvPr/>
        </p:nvSpPr>
        <p:spPr>
          <a:xfrm>
            <a:off x="274320" y="3282696"/>
            <a:ext cx="11430000" cy="91440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Rounded Rectangle 20"/>
          <p:cNvSpPr/>
          <p:nvPr/>
        </p:nvSpPr>
        <p:spPr>
          <a:xfrm>
            <a:off x="10332720" y="3557015"/>
            <a:ext cx="1280160" cy="347472"/>
          </a:xfrm>
          <a:prstGeom prst="roundRect">
            <a:avLst/>
          </a:prstGeom>
          <a:solidFill>
            <a:srgbClr val="39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CONFIRMED</a:t>
            </a:r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411480" y="3355848"/>
            <a:ext cx="502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rPr sz="1600"/>
              <a:t>H₃</a:t>
            </a:r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1005840" y="3355848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Experienced players are more consistent performers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1005840" y="3794760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Evidence:  Veterans (&gt;5 seasons) have +8% higher strike rate</a:t>
            </a:r>
            <a:endParaRPr sz="1600"/>
          </a:p>
        </p:txBody>
      </p:sp>
      <p:sp>
        <p:nvSpPr>
          <p:cNvPr id="25" name="Rounded Rectangle 24"/>
          <p:cNvSpPr/>
          <p:nvPr/>
        </p:nvSpPr>
        <p:spPr>
          <a:xfrm>
            <a:off x="274320" y="4398264"/>
            <a:ext cx="11430000" cy="91440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6" name="Rounded Rectangle 25"/>
          <p:cNvSpPr/>
          <p:nvPr/>
        </p:nvSpPr>
        <p:spPr>
          <a:xfrm>
            <a:off x="10332720" y="4672583"/>
            <a:ext cx="1280160" cy="347472"/>
          </a:xfrm>
          <a:prstGeom prst="roundRect">
            <a:avLst/>
          </a:prstGeom>
          <a:solidFill>
            <a:srgbClr val="39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CONFIRMED</a:t>
            </a:r>
            <a:endParaRPr sz="1600"/>
          </a:p>
        </p:txBody>
      </p:sp>
      <p:sp>
        <p:nvSpPr>
          <p:cNvPr id="27" name="TextBox 26"/>
          <p:cNvSpPr txBox="1"/>
          <p:nvPr/>
        </p:nvSpPr>
        <p:spPr>
          <a:xfrm>
            <a:off x="411480" y="4471416"/>
            <a:ext cx="502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rPr sz="1600"/>
              <a:t>H₄</a:t>
            </a:r>
            <a:endParaRPr sz="1600"/>
          </a:p>
        </p:txBody>
      </p:sp>
      <p:sp>
        <p:nvSpPr>
          <p:cNvPr id="28" name="TextBox 27"/>
          <p:cNvSpPr txBox="1"/>
          <p:nvPr/>
        </p:nvSpPr>
        <p:spPr>
          <a:xfrm>
            <a:off x="1005840" y="4471416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Venue/home conditions influence match outcomes</a:t>
            </a:r>
            <a:endParaRPr sz="1600"/>
          </a:p>
        </p:txBody>
      </p:sp>
      <p:sp>
        <p:nvSpPr>
          <p:cNvPr id="29" name="TextBox 28"/>
          <p:cNvSpPr txBox="1"/>
          <p:nvPr/>
        </p:nvSpPr>
        <p:spPr>
          <a:xfrm>
            <a:off x="1005840" y="4910327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Evidence:  Home teams recorded +10% higher win rates across venues</a:t>
            </a:r>
            <a:endParaRPr sz="1600"/>
          </a:p>
        </p:txBody>
      </p:sp>
      <p:sp>
        <p:nvSpPr>
          <p:cNvPr id="30" name="Rounded Rectangle 29"/>
          <p:cNvSpPr/>
          <p:nvPr/>
        </p:nvSpPr>
        <p:spPr>
          <a:xfrm>
            <a:off x="274320" y="5513831"/>
            <a:ext cx="11430000" cy="91440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31" name="Rounded Rectangle 30"/>
          <p:cNvSpPr/>
          <p:nvPr/>
        </p:nvSpPr>
        <p:spPr>
          <a:xfrm>
            <a:off x="10332720" y="5788151"/>
            <a:ext cx="1280160" cy="347472"/>
          </a:xfrm>
          <a:prstGeom prst="roundRect">
            <a:avLst/>
          </a:prstGeom>
          <a:solidFill>
            <a:srgbClr val="39C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A193C"/>
                </a:solidFill>
                <a:latin typeface="Calibri" panose="020F0502020204030204"/>
              </a:defRPr>
            </a:pPr>
            <a:r>
              <a:rPr sz="1600"/>
              <a:t>CONFIRMED</a:t>
            </a:r>
            <a:endParaRPr sz="1600"/>
          </a:p>
        </p:txBody>
      </p:sp>
      <p:sp>
        <p:nvSpPr>
          <p:cNvPr id="32" name="TextBox 31"/>
          <p:cNvSpPr txBox="1"/>
          <p:nvPr/>
        </p:nvSpPr>
        <p:spPr>
          <a:xfrm>
            <a:off x="411480" y="5586983"/>
            <a:ext cx="502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rPr sz="1600"/>
              <a:t>H₅</a:t>
            </a:r>
            <a:endParaRPr sz="1600"/>
          </a:p>
        </p:txBody>
      </p:sp>
      <p:sp>
        <p:nvSpPr>
          <p:cNvPr id="33" name="TextBox 32"/>
          <p:cNvSpPr txBox="1"/>
          <p:nvPr/>
        </p:nvSpPr>
        <p:spPr>
          <a:xfrm>
            <a:off x="1005840" y="5586983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rPr sz="1600"/>
              <a:t>Player performance peaks mid-tournament</a:t>
            </a:r>
            <a:endParaRPr sz="1600"/>
          </a:p>
        </p:txBody>
      </p:sp>
      <p:sp>
        <p:nvSpPr>
          <p:cNvPr id="34" name="TextBox 33"/>
          <p:cNvSpPr txBox="1"/>
          <p:nvPr/>
        </p:nvSpPr>
        <p:spPr>
          <a:xfrm>
            <a:off x="1005840" y="6025896"/>
            <a:ext cx="9144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Evidence:  Batting averages highest in matches 4–10 per season</a:t>
            </a:r>
            <a:endParaRPr sz="1600"/>
          </a:p>
        </p:txBody>
      </p:sp>
      <p:sp>
        <p:nvSpPr>
          <p:cNvPr id="35" name="Rectangle 3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Key Insights &amp; 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2120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800"/>
              <a:t>Data-driven strategic intelligence extracted from the IPL dashboard</a:t>
            </a:r>
            <a:endParaRPr sz="1800"/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1262380"/>
            <a:ext cx="3749040" cy="170688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353820"/>
            <a:ext cx="347471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800"/>
              <a:t>🏆  Team Dominance</a:t>
            </a:r>
            <a:endParaRPr sz="1800"/>
          </a:p>
        </p:txBody>
      </p:sp>
      <p:sp>
        <p:nvSpPr>
          <p:cNvPr id="12" name="Rectangle 11"/>
          <p:cNvSpPr/>
          <p:nvPr/>
        </p:nvSpPr>
        <p:spPr>
          <a:xfrm>
            <a:off x="411479" y="1719580"/>
            <a:ext cx="3474719" cy="2286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79" y="1811020"/>
            <a:ext cx="34747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800"/>
              <a:t>MI &amp; CSK account for 196 combined wins — invest in player retention strategy</a:t>
            </a:r>
            <a:endParaRPr sz="1800"/>
          </a:p>
        </p:txBody>
      </p:sp>
      <p:sp>
        <p:nvSpPr>
          <p:cNvPr id="14" name="Rounded Rectangle 13"/>
          <p:cNvSpPr/>
          <p:nvPr/>
        </p:nvSpPr>
        <p:spPr>
          <a:xfrm>
            <a:off x="4251960" y="1247140"/>
            <a:ext cx="3749040" cy="1734185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353820"/>
            <a:ext cx="347471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800"/>
              <a:t>📍  Venue Strategy</a:t>
            </a:r>
            <a:endParaRPr sz="1800"/>
          </a:p>
        </p:txBody>
      </p:sp>
      <p:sp>
        <p:nvSpPr>
          <p:cNvPr id="16" name="Rectangle 15"/>
          <p:cNvSpPr/>
          <p:nvPr/>
        </p:nvSpPr>
        <p:spPr>
          <a:xfrm>
            <a:off x="4389120" y="1719580"/>
            <a:ext cx="3474719" cy="2286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811020"/>
            <a:ext cx="34747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800"/>
              <a:t>Eden Gardens &amp; Wankhede are highest-stake venues — prepare venue-specific tactics</a:t>
            </a:r>
            <a:endParaRPr sz="1800"/>
          </a:p>
        </p:txBody>
      </p:sp>
      <p:sp>
        <p:nvSpPr>
          <p:cNvPr id="18" name="Rounded Rectangle 17"/>
          <p:cNvSpPr/>
          <p:nvPr/>
        </p:nvSpPr>
        <p:spPr>
          <a:xfrm>
            <a:off x="8229600" y="1262380"/>
            <a:ext cx="3749040" cy="174625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353820"/>
            <a:ext cx="347471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rPr sz="1800"/>
              <a:t>🏏  Player Investment</a:t>
            </a:r>
            <a:endParaRPr sz="1800"/>
          </a:p>
        </p:txBody>
      </p:sp>
      <p:sp>
        <p:nvSpPr>
          <p:cNvPr id="20" name="Rectangle 19"/>
          <p:cNvSpPr/>
          <p:nvPr/>
        </p:nvSpPr>
        <p:spPr>
          <a:xfrm>
            <a:off x="8366760" y="1719580"/>
            <a:ext cx="3474719" cy="2286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811020"/>
            <a:ext cx="34747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800"/>
              <a:t>Top 3 batsmen contribute 40% of total team runs — protect key batting lineups</a:t>
            </a:r>
            <a:endParaRPr sz="1800"/>
          </a:p>
        </p:txBody>
      </p:sp>
      <p:sp>
        <p:nvSpPr>
          <p:cNvPr id="22" name="Rounded Rectangle 21"/>
          <p:cNvSpPr/>
          <p:nvPr/>
        </p:nvSpPr>
        <p:spPr>
          <a:xfrm>
            <a:off x="274320" y="3954780"/>
            <a:ext cx="3749040" cy="1980565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4046219"/>
            <a:ext cx="347471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DC3232"/>
                </a:solidFill>
                <a:latin typeface="Calibri" panose="020F0502020204030204"/>
              </a:defRPr>
            </a:pPr>
            <a:r>
              <a:rPr sz="1800"/>
              <a:t>🎳  Bowling Economy</a:t>
            </a:r>
            <a:endParaRPr sz="1800"/>
          </a:p>
        </p:txBody>
      </p:sp>
      <p:sp>
        <p:nvSpPr>
          <p:cNvPr id="24" name="Rectangle 23"/>
          <p:cNvSpPr/>
          <p:nvPr/>
        </p:nvSpPr>
        <p:spPr>
          <a:xfrm>
            <a:off x="411479" y="4411979"/>
            <a:ext cx="3474719" cy="2286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4503419"/>
            <a:ext cx="34747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800"/>
              <a:t>Spinners with economy &lt;7 win 62% of matches — prioritise spin bowling in middle overs</a:t>
            </a:r>
            <a:endParaRPr sz="1800"/>
          </a:p>
        </p:txBody>
      </p:sp>
      <p:sp>
        <p:nvSpPr>
          <p:cNvPr id="26" name="Rounded Rectangle 25"/>
          <p:cNvSpPr/>
          <p:nvPr/>
        </p:nvSpPr>
        <p:spPr>
          <a:xfrm>
            <a:off x="4251960" y="3954780"/>
            <a:ext cx="3749040" cy="1980565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4046219"/>
            <a:ext cx="347471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800"/>
              <a:t>📈  Seasonal Trends</a:t>
            </a:r>
            <a:endParaRPr sz="1800"/>
          </a:p>
        </p:txBody>
      </p:sp>
      <p:sp>
        <p:nvSpPr>
          <p:cNvPr id="28" name="Rectangle 27"/>
          <p:cNvSpPr/>
          <p:nvPr/>
        </p:nvSpPr>
        <p:spPr>
          <a:xfrm>
            <a:off x="4389120" y="4411979"/>
            <a:ext cx="3474719" cy="2286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389120" y="4503419"/>
            <a:ext cx="34747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800"/>
              <a:t>Teams with &gt;65 matches/season show +15% higher consistency in win rate</a:t>
            </a:r>
            <a:endParaRPr sz="1800"/>
          </a:p>
        </p:txBody>
      </p:sp>
      <p:sp>
        <p:nvSpPr>
          <p:cNvPr id="30" name="Rounded Rectangle 29"/>
          <p:cNvSpPr/>
          <p:nvPr/>
        </p:nvSpPr>
        <p:spPr>
          <a:xfrm>
            <a:off x="8229600" y="3954780"/>
            <a:ext cx="3749040" cy="204851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4046219"/>
            <a:ext cx="3474719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800"/>
              <a:t>🏏  Toss Decisions</a:t>
            </a:r>
            <a:endParaRPr sz="1800"/>
          </a:p>
        </p:txBody>
      </p:sp>
      <p:sp>
        <p:nvSpPr>
          <p:cNvPr id="32" name="Rectangle 31"/>
          <p:cNvSpPr/>
          <p:nvPr/>
        </p:nvSpPr>
        <p:spPr>
          <a:xfrm>
            <a:off x="8366760" y="4411979"/>
            <a:ext cx="3474719" cy="2286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60" y="4503419"/>
            <a:ext cx="3474719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800"/>
              <a:t>In high-dew venues choose to bowl first — 58% win rate for fielding-first teams</a:t>
            </a:r>
            <a:endParaRPr sz="1800"/>
          </a:p>
        </p:txBody>
      </p:sp>
      <p:sp>
        <p:nvSpPr>
          <p:cNvPr id="34" name="Rectangle 3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3152"/>
            <a:ext cx="12188952" cy="749808"/>
          </a:xfrm>
          <a:prstGeom prst="rect">
            <a:avLst/>
          </a:prstGeom>
          <a:solidFill>
            <a:srgbClr val="12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9728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Conclusion &amp; Project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"/>
            <a:ext cx="822960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t>What this project delivers and demonstrates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22960"/>
            <a:ext cx="12188952" cy="27432"/>
          </a:xfrm>
          <a:prstGeom prst="rect">
            <a:avLst/>
          </a:prstGeom>
          <a:solidFill>
            <a:srgbClr val="00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457200" y="1143000"/>
            <a:ext cx="6858000" cy="11887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600" b="1" i="1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"Transforming raw cricket data into</a:t>
            </a:r>
            <a:br>
              <a:rPr sz="1600"/>
            </a:br>
            <a:r>
              <a:rPr sz="1600"/>
              <a:t>actionable intelligence."</a:t>
            </a:r>
            <a:endParaRPr sz="1600"/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68580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50" b="0" i="0">
                <a:solidFill>
                  <a:srgbClr val="DCE6F5"/>
                </a:solidFill>
                <a:latin typeface="Calibri" panose="020F0502020204030204"/>
              </a:defRPr>
            </a:pPr>
            <a:r>
              <a:rPr sz="1600"/>
              <a:t>The IPL Data Analytics Dashboard demonstrates the full data analytics lifecycle — from raw data ingestion and SQL cleaning through Python feature engineering to production-grade Power BI visualisation. Built on 756 real IPL matches across 12 seasons, this project delivers genuine cricket intelligence that supports strategic decisions.</a:t>
            </a:r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7589520" y="1143000"/>
            <a:ext cx="4297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Skills Demonstrated</a:t>
            </a:r>
            <a:endParaRPr sz="1600"/>
          </a:p>
        </p:txBody>
      </p:sp>
      <p:sp>
        <p:nvSpPr>
          <p:cNvPr id="13" name="Rounded Rectangle 12"/>
          <p:cNvSpPr/>
          <p:nvPr/>
        </p:nvSpPr>
        <p:spPr>
          <a:xfrm>
            <a:off x="7589520" y="1600200"/>
            <a:ext cx="4297680" cy="7772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7726679" y="1655064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Data Engineering</a:t>
            </a:r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7726679" y="2002536"/>
            <a:ext cx="4023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SQL,</a:t>
            </a:r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7589520" y="2587752"/>
            <a:ext cx="4297680" cy="7772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7726679" y="2642616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rPr sz="1600"/>
              <a:t>Data Visualisation</a:t>
            </a:r>
            <a:endParaRPr sz="1600"/>
          </a:p>
        </p:txBody>
      </p:sp>
      <p:sp>
        <p:nvSpPr>
          <p:cNvPr id="18" name="TextBox 17"/>
          <p:cNvSpPr txBox="1"/>
          <p:nvPr/>
        </p:nvSpPr>
        <p:spPr>
          <a:xfrm>
            <a:off x="7726679" y="2990088"/>
            <a:ext cx="4023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Power BI, , Charts</a:t>
            </a:r>
            <a:endParaRPr sz="1600"/>
          </a:p>
        </p:txBody>
      </p:sp>
      <p:sp>
        <p:nvSpPr>
          <p:cNvPr id="19" name="Rounded Rectangle 18"/>
          <p:cNvSpPr/>
          <p:nvPr/>
        </p:nvSpPr>
        <p:spPr>
          <a:xfrm>
            <a:off x="7589520" y="3575304"/>
            <a:ext cx="4297680" cy="7772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0" name="TextBox 19"/>
          <p:cNvSpPr txBox="1"/>
          <p:nvPr/>
        </p:nvSpPr>
        <p:spPr>
          <a:xfrm>
            <a:off x="7726679" y="3630168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FFBE1E"/>
                </a:solidFill>
                <a:latin typeface="Calibri" panose="020F0502020204030204"/>
              </a:defRPr>
            </a:pPr>
            <a:r>
              <a:rPr sz="1600"/>
              <a:t>Analytics</a:t>
            </a:r>
            <a:endParaRPr sz="1600"/>
          </a:p>
        </p:txBody>
      </p:sp>
      <p:sp>
        <p:nvSpPr>
          <p:cNvPr id="21" name="TextBox 20"/>
          <p:cNvSpPr txBox="1"/>
          <p:nvPr/>
        </p:nvSpPr>
        <p:spPr>
          <a:xfrm>
            <a:off x="7726679" y="3977640"/>
            <a:ext cx="4023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Stats, Trends, Hypothesis</a:t>
            </a:r>
            <a:endParaRPr sz="1600"/>
          </a:p>
        </p:txBody>
      </p:sp>
      <p:sp>
        <p:nvSpPr>
          <p:cNvPr id="22" name="Rounded Rectangle 21"/>
          <p:cNvSpPr/>
          <p:nvPr/>
        </p:nvSpPr>
        <p:spPr>
          <a:xfrm>
            <a:off x="7589520" y="4562856"/>
            <a:ext cx="4297680" cy="777240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DC3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3" name="TextBox 22"/>
          <p:cNvSpPr txBox="1"/>
          <p:nvPr/>
        </p:nvSpPr>
        <p:spPr>
          <a:xfrm>
            <a:off x="7726679" y="4617720"/>
            <a:ext cx="40233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DC3232"/>
                </a:solidFill>
                <a:latin typeface="Calibri" panose="020F0502020204030204"/>
              </a:defRPr>
            </a:pPr>
            <a:r>
              <a:rPr sz="1600"/>
              <a:t>BI Storytelling</a:t>
            </a:r>
            <a:endParaRPr sz="1600"/>
          </a:p>
        </p:txBody>
      </p:sp>
      <p:sp>
        <p:nvSpPr>
          <p:cNvPr id="24" name="TextBox 23"/>
          <p:cNvSpPr txBox="1"/>
          <p:nvPr/>
        </p:nvSpPr>
        <p:spPr>
          <a:xfrm>
            <a:off x="7726679" y="4965192"/>
            <a:ext cx="40233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5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Dashboard, KPIs, Insights</a:t>
            </a:r>
            <a:endParaRPr sz="1600"/>
          </a:p>
        </p:txBody>
      </p:sp>
      <p:sp>
        <p:nvSpPr>
          <p:cNvPr id="25" name="Rounded Rectangle 24"/>
          <p:cNvSpPr/>
          <p:nvPr/>
        </p:nvSpPr>
        <p:spPr>
          <a:xfrm>
            <a:off x="457200" y="4251960"/>
            <a:ext cx="2148840" cy="960120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100%</a:t>
            </a:r>
            <a:endParaRPr sz="1600"/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Data Quality</a:t>
            </a:r>
            <a:endParaRPr sz="1600"/>
          </a:p>
        </p:txBody>
      </p:sp>
      <p:sp>
        <p:nvSpPr>
          <p:cNvPr id="26" name="Rounded Rectangle 25"/>
          <p:cNvSpPr/>
          <p:nvPr/>
        </p:nvSpPr>
        <p:spPr>
          <a:xfrm>
            <a:off x="2788920" y="4251960"/>
            <a:ext cx="2148840" cy="960120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5 Pages</a:t>
            </a:r>
            <a:endParaRPr sz="1600"/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Interactive</a:t>
            </a:r>
            <a:endParaRPr sz="1600"/>
          </a:p>
        </p:txBody>
      </p:sp>
      <p:sp>
        <p:nvSpPr>
          <p:cNvPr id="27" name="Rounded Rectangle 26"/>
          <p:cNvSpPr/>
          <p:nvPr/>
        </p:nvSpPr>
        <p:spPr>
          <a:xfrm>
            <a:off x="5120640" y="4251960"/>
            <a:ext cx="2148840" cy="960120"/>
          </a:xfrm>
          <a:prstGeom prst="roundRect">
            <a:avLst/>
          </a:prstGeom>
          <a:solidFill>
            <a:srgbClr val="163064"/>
          </a:solidFill>
          <a:ln w="19050">
            <a:solidFill>
              <a:srgbClr val="FFB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73152" rtlCol="0" anchor="ctr"/>
          <a:lstStyle/>
          <a:p>
            <a:pPr algn="ctr">
              <a:defRPr sz="3600" b="1">
                <a:solidFill>
                  <a:srgbClr val="00C8E6"/>
                </a:solidFill>
                <a:latin typeface="Calibri" panose="020F0502020204030204"/>
              </a:defRPr>
            </a:pPr>
            <a:r>
              <a:rPr sz="1600"/>
              <a:t>12</a:t>
            </a:r>
            <a:endParaRPr sz="1600"/>
          </a:p>
          <a:p>
            <a:pPr algn="ctr">
              <a:spcBef>
                <a:spcPts val="300"/>
              </a:spcBef>
              <a:defRPr sz="1100">
                <a:solidFill>
                  <a:srgbClr val="96AFD2"/>
                </a:solidFill>
                <a:latin typeface="Calibri" panose="020F0502020204030204"/>
              </a:defRPr>
            </a:pPr>
            <a:r>
              <a:rPr sz="1600"/>
              <a:t>Seasons</a:t>
            </a:r>
            <a:endParaRPr sz="1600"/>
          </a:p>
        </p:txBody>
      </p:sp>
      <p:sp>
        <p:nvSpPr>
          <p:cNvPr id="28" name="Rectangle 27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0795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09728" cy="6858000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6" name="Oval 5"/>
          <p:cNvSpPr/>
          <p:nvPr/>
        </p:nvSpPr>
        <p:spPr>
          <a:xfrm>
            <a:off x="9601200" y="-457200"/>
            <a:ext cx="4114800" cy="4114800"/>
          </a:xfrm>
          <a:prstGeom prst="ellipse">
            <a:avLst/>
          </a:prstGeom>
          <a:solidFill>
            <a:srgbClr val="FFBE1E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0" y="2743200"/>
            <a:ext cx="2743200" cy="2743200"/>
          </a:xfrm>
          <a:prstGeom prst="ellipse">
            <a:avLst/>
          </a:prstGeom>
          <a:solidFill>
            <a:srgbClr val="00C8E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0" y="4572000"/>
            <a:ext cx="3200400" cy="3200400"/>
          </a:xfrm>
          <a:prstGeom prst="ellipse">
            <a:avLst/>
          </a:prstGeom>
          <a:solidFill>
            <a:srgbClr val="193C82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188720"/>
            <a:ext cx="3474720" cy="384048"/>
          </a:xfrm>
          <a:prstGeom prst="round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A193C"/>
                </a:solidFill>
                <a:latin typeface="Calibri" panose="020F0502020204030204"/>
              </a:defRPr>
            </a:pPr>
            <a:r>
              <a:t>  OPEN TO OPPORTUNITIES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8308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0" b="1" i="0">
                <a:solidFill>
                  <a:srgbClr val="FFFFFF"/>
                </a:solidFill>
                <a:latin typeface="Calibri" panose="020F0502020204030204"/>
              </a:defRPr>
            </a:pPr>
            <a:r>
              <a:t>Thank You!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090672"/>
            <a:ext cx="5486400" cy="64008"/>
          </a:xfrm>
          <a:prstGeom prst="rect">
            <a:avLst/>
          </a:prstGeom>
          <a:solidFill>
            <a:srgbClr val="FFB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46120"/>
            <a:ext cx="7772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 i="1">
                <a:solidFill>
                  <a:srgbClr val="00C8E6"/>
                </a:solidFill>
                <a:latin typeface="Calibri" panose="020F0502020204030204"/>
              </a:defRPr>
            </a:pPr>
            <a:r>
              <a:t>Let's Build Something Data-Driven Together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8686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 i="0">
                <a:solidFill>
                  <a:srgbClr val="FFBE1E"/>
                </a:solidFill>
                <a:latin typeface="Calibri" panose="020F0502020204030204"/>
              </a:defRPr>
            </a:pPr>
            <a:r>
              <a:t>Available for Internships  •  Full-Time Roles  •  Freelance Projects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343400"/>
            <a:ext cx="4351655" cy="749935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00C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15" name="TextBox 14"/>
          <p:cNvSpPr txBox="1"/>
          <p:nvPr/>
        </p:nvSpPr>
        <p:spPr>
          <a:xfrm>
            <a:off x="594360" y="4407408"/>
            <a:ext cx="3337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00C8E6"/>
                </a:solidFill>
                <a:latin typeface="Calibri" panose="020F0502020204030204"/>
              </a:defRPr>
            </a:pPr>
            <a:r>
              <a:rPr sz="1400"/>
              <a:t>🔗  LinkedIn</a:t>
            </a:r>
            <a:endParaRPr sz="1400"/>
          </a:p>
        </p:txBody>
      </p:sp>
      <p:sp>
        <p:nvSpPr>
          <p:cNvPr id="16" name="TextBox 15"/>
          <p:cNvSpPr txBox="1"/>
          <p:nvPr/>
        </p:nvSpPr>
        <p:spPr>
          <a:xfrm>
            <a:off x="532765" y="4672330"/>
            <a:ext cx="4179570" cy="361315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sz="1400"/>
              <a:t>l</a:t>
            </a:r>
            <a:r>
              <a:rPr lang="en-US" altLang="en-US" sz="1400"/>
              <a:t>www.linkedin.com/in/abhijeet-vijayvargiya-3a14433b7</a:t>
            </a:r>
            <a:endParaRPr lang="en-US" altLang="en-US" sz="1400"/>
          </a:p>
        </p:txBody>
      </p:sp>
      <p:sp>
        <p:nvSpPr>
          <p:cNvPr id="20" name="Rounded Rectangle 19"/>
          <p:cNvSpPr/>
          <p:nvPr/>
        </p:nvSpPr>
        <p:spPr>
          <a:xfrm>
            <a:off x="5149215" y="4343400"/>
            <a:ext cx="3611880" cy="749808"/>
          </a:xfrm>
          <a:prstGeom prst="roundRect">
            <a:avLst/>
          </a:prstGeom>
          <a:solidFill>
            <a:srgbClr val="163064"/>
          </a:solidFill>
          <a:ln w="25400">
            <a:solidFill>
              <a:srgbClr val="39C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400"/>
          </a:p>
        </p:txBody>
      </p:sp>
      <p:sp>
        <p:nvSpPr>
          <p:cNvPr id="21" name="TextBox 20"/>
          <p:cNvSpPr txBox="1"/>
          <p:nvPr/>
        </p:nvSpPr>
        <p:spPr>
          <a:xfrm>
            <a:off x="5189220" y="4380103"/>
            <a:ext cx="33375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39C878"/>
                </a:solidFill>
                <a:latin typeface="Calibri" panose="020F0502020204030204"/>
              </a:defRPr>
            </a:pPr>
            <a:r>
              <a:rPr sz="1400"/>
              <a:t>✉  Email</a:t>
            </a:r>
            <a:endParaRPr sz="1400"/>
          </a:p>
        </p:txBody>
      </p:sp>
      <p:sp>
        <p:nvSpPr>
          <p:cNvPr id="22" name="TextBox 21"/>
          <p:cNvSpPr txBox="1"/>
          <p:nvPr/>
        </p:nvSpPr>
        <p:spPr>
          <a:xfrm>
            <a:off x="5190490" y="4729226"/>
            <a:ext cx="3337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 i="0">
                <a:solidFill>
                  <a:srgbClr val="96AFD2"/>
                </a:solidFill>
                <a:latin typeface="Calibri" panose="020F0502020204030204"/>
              </a:defRPr>
            </a:pPr>
            <a:r>
              <a:rPr lang="en-IN" sz="1400"/>
              <a:t>abhijeetvijayvargiya@gmail.com</a:t>
            </a:r>
            <a:endParaRPr lang="en-IN" sz="1400"/>
          </a:p>
        </p:txBody>
      </p:sp>
      <p:sp>
        <p:nvSpPr>
          <p:cNvPr id="23" name="Rounded Rectangle 22"/>
          <p:cNvSpPr/>
          <p:nvPr/>
        </p:nvSpPr>
        <p:spPr>
          <a:xfrm>
            <a:off x="457200" y="5349240"/>
            <a:ext cx="1417320" cy="320040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E6F5"/>
                </a:solidFill>
                <a:latin typeface="Calibri" panose="020F0502020204030204"/>
              </a:defRPr>
            </a:pPr>
            <a:r>
              <a:rPr sz="1400"/>
              <a:t>Python</a:t>
            </a:r>
            <a:endParaRPr sz="1400"/>
          </a:p>
        </p:txBody>
      </p:sp>
      <p:sp>
        <p:nvSpPr>
          <p:cNvPr id="24" name="Rounded Rectangle 23"/>
          <p:cNvSpPr/>
          <p:nvPr/>
        </p:nvSpPr>
        <p:spPr>
          <a:xfrm>
            <a:off x="1965960" y="5349240"/>
            <a:ext cx="1417320" cy="320040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E6F5"/>
                </a:solidFill>
                <a:latin typeface="Calibri" panose="020F0502020204030204"/>
              </a:defRPr>
            </a:pPr>
            <a:r>
              <a:rPr sz="1400"/>
              <a:t>SQL</a:t>
            </a:r>
            <a:endParaRPr sz="1400"/>
          </a:p>
        </p:txBody>
      </p:sp>
      <p:sp>
        <p:nvSpPr>
          <p:cNvPr id="25" name="Rounded Rectangle 24"/>
          <p:cNvSpPr/>
          <p:nvPr/>
        </p:nvSpPr>
        <p:spPr>
          <a:xfrm>
            <a:off x="3474720" y="5349240"/>
            <a:ext cx="1417320" cy="320040"/>
          </a:xfrm>
          <a:prstGeom prst="roundRect">
            <a:avLst/>
          </a:prstGeom>
          <a:solidFill>
            <a:srgbClr val="0F23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CE6F5"/>
                </a:solidFill>
                <a:latin typeface="Calibri" panose="020F0502020204030204"/>
              </a:defRPr>
            </a:pPr>
            <a:r>
              <a:rPr sz="1400"/>
              <a:t>Power BI</a:t>
            </a:r>
            <a:endParaRPr sz="1400"/>
          </a:p>
        </p:txBody>
      </p:sp>
      <p:sp>
        <p:nvSpPr>
          <p:cNvPr id="28" name="TextBox 27"/>
          <p:cNvSpPr txBox="1"/>
          <p:nvPr/>
        </p:nvSpPr>
        <p:spPr>
          <a:xfrm>
            <a:off x="457200" y="5897880"/>
            <a:ext cx="112471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 i="1">
                <a:solidFill>
                  <a:srgbClr val="96AFD2"/>
                </a:solidFill>
                <a:latin typeface="Calibri" panose="020F0502020204030204"/>
              </a:defRPr>
            </a:pPr>
            <a:r>
              <a:rPr sz="1400"/>
              <a:t>IPL Data Analytics Dashboard  —  Portfolio Project 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7020</Words>
  <Application>WPS Presentation</Application>
  <PresentationFormat>On-screen Show (4:3)</PresentationFormat>
  <Paragraphs>547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WPS_1762446975</cp:lastModifiedBy>
  <cp:revision>5</cp:revision>
  <dcterms:created xsi:type="dcterms:W3CDTF">2013-01-27T09:14:00Z</dcterms:created>
  <dcterms:modified xsi:type="dcterms:W3CDTF">2026-05-18T10:12:32Z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A74E6893767E4E3B9FF6A6B8AB07C1F4_12</vt:lpwstr>
  </property>
  <property fmtid="{D5CDD505-2E9C-101B-9397-08002B2CF9AE}" pid="3" name="KSOProductBuildVer">
    <vt:lpwstr>1033-12.1.0.26372</vt:lpwstr>
  </property>
</Properties>
</file>